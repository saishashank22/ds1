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adio Canada Medium"/>
      <p:regular r:id="rId201314"/>
    </p:embeddedFont>
    <p:embeddedFont>
      <p:font typeface="Radio Canada SemiBold"/>
      <p:regular r:id="rId201315"/>
    </p:embeddedFont>
    <p:embeddedFont>
      <p:font typeface="Radio Canada Bold"/>
      <p:regular r:id="rId201316"/>
    </p:embeddedFont>
    <p:embeddedFont>
      <p:font typeface="Radio Canada"/>
      <p:regular r:id="rId201317"/>
    </p:embeddedFont>
    <p:embeddedFont>
      <p:font typeface="Radio Canada Big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central proposition: CivicPulse is not another complaints inbox. It turns public frustration into an accountable operating loop that leaders can see, govern, and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issue is not a lack of public input. It is that the system behind the input is difficult to see: where issues enter, who owns them, what is urgent, and what patterns are repeating.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model from left to right conceptually, even though it is shown vertically: capture the issue, make sense of it, assign it, act, communicate, close, and learn. The last step feeds the next improvement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operating promise at the case level. Every complaint has a visible path: how it entered, why it was prioritized, who owns it, and what happens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is an important starting signal, but it is not the whole story. Sentiment intelligence helps leaders distinguish a one-off complaint from a pattern that is becoming urgent, repeated, or systemic.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difference between reporting and operating. The view matters because it connects measures to action: leaders can see where work is accumulating, investigate the underlying issue, and direct the next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 works best when it creates clarity rather than fear. CivicPulse makes ownership and commitments visible, gives citizens a reliable line of sight, and uses public measures to improve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path, not a broad promise. Begin with a focused service or geography, establish the baseline and the rules for escalation, then scale the model as departments demonstrate faster and fairer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14400"/>
            <a:ext cx="6857828" cy="4753769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1270000"/>
            <a:ext cx="66546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B2A33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CIVICPULSE · GOVERNED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975" y="1569045"/>
            <a:ext cx="6045049" cy="290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84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CivicPulse turns public frustration into governed action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15975" y="4686498"/>
            <a:ext cx="604504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 clear operating model for hearing, prioritizing, resolving, and learning from citizen voice.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Government leaders see complaints, but not always the system behind them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E3F4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01" y="2220317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Fragmented intake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2780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Grievances arrive across channels, departments, and formats.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0926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F3FB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940" y="2220317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Hidden operating logic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605718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Ownership, urgency, and recurring patterns are hard to see in one view.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3865" y="1766292"/>
            <a:ext cx="3488246" cy="4634508"/>
          </a:xfrm>
          <a:prstGeom prst="roundRect">
            <a:avLst>
              <a:gd name="adj" fmla="val 5570"/>
            </a:avLst>
          </a:prstGeom>
          <a:solidFill>
            <a:srgbClr val="FFE7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78" y="2220317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8657" y="3137892"/>
            <a:ext cx="287866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Public experience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398657" y="3640137"/>
            <a:ext cx="287866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Citizens experience the gaps as silence, repetition, and low trust.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5431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0703" y="457200"/>
            <a:ext cx="833099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FULL-CYCLE OPERATING MODEL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3860703" y="756245"/>
            <a:ext cx="777220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One full-cycle model connects every grievance to an outcome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063799" y="2268538"/>
            <a:ext cx="101597" cy="6334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597285" y="2135188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Capture + verify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97285" y="2587923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Confirm the citizen issue and the facts needed to act.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63799" y="2901950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3022600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Classify + prioritize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285" y="3475335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Recognize service, severity, geography, and urgency.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063799" y="3789362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4597285" y="3910013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Route + own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97285" y="4362748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Assign the accountable department and next step.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063799" y="4676775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2"/>
          <p:cNvSpPr/>
          <p:nvPr/>
        </p:nvSpPr>
        <p:spPr>
          <a:xfrm>
            <a:off x="4597285" y="4797425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Act + communicate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97285" y="5250160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Track progress and keep the citizen informed.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063799" y="5564188"/>
            <a:ext cx="101597" cy="254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5"/>
          <p:cNvSpPr/>
          <p:nvPr/>
        </p:nvSpPr>
        <p:spPr>
          <a:xfrm>
            <a:off x="4597285" y="5684838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Close + learn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97285" y="6137573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Resolve the issue and use the outcome to improve services.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860703" y="2014538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66776" y="2141538"/>
            <a:ext cx="70542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860703" y="2901950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0483" y="3028950"/>
            <a:ext cx="7580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860703" y="3789362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40483" y="3916363"/>
            <a:ext cx="7580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860703" y="4676775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42269" y="4803775"/>
            <a:ext cx="75444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3860703" y="5564188"/>
            <a:ext cx="507987" cy="508000"/>
          </a:xfrm>
          <a:prstGeom prst="ellipse">
            <a:avLst/>
          </a:prstGeom>
          <a:solidFill>
            <a:srgbClr val="F56342"/>
          </a:solidFill>
          <a:ln w="50799">
            <a:solidFill>
              <a:srgbClr val="F563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39094" y="5691188"/>
            <a:ext cx="76079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Every complaint gets a clear owner, priority, and next step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79413" y="2007493"/>
            <a:ext cx="3748391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480667"/>
            <a:ext cx="369134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Unified intake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7987" y="2982913"/>
            <a:ext cx="369134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Digital, assisted, and field channels enter one operating 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70754" y="2007493"/>
            <a:ext cx="3748391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199329" y="2480667"/>
            <a:ext cx="369134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Rules-based routing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99329" y="2982913"/>
            <a:ext cx="369134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Geography, service, severity, and department determine ownership.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2096" y="2007493"/>
            <a:ext cx="3748490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890670" y="2480667"/>
            <a:ext cx="36914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Escalation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90670" y="2982913"/>
            <a:ext cx="369144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Deadlines, vulnerability, or risk demand attention.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87" y="5327650"/>
            <a:ext cx="11074123" cy="1073150"/>
          </a:xfrm>
          <a:prstGeom prst="roundRect">
            <a:avLst>
              <a:gd name="adj" fmla="val 18106"/>
            </a:avLst>
          </a:prstGeom>
          <a:solidFill>
            <a:srgbClr val="C6E9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80" y="5530850"/>
            <a:ext cx="104645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In plain words: no complaint should disappear between the channel where it starts and the team responsible for resolving it.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061516" y="1744067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9771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752857" y="1744067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112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44297" y="1744067"/>
            <a:ext cx="584185" cy="584200"/>
          </a:xfrm>
          <a:prstGeom prst="ellipse">
            <a:avLst/>
          </a:prstGeom>
          <a:solidFill>
            <a:srgbClr val="F56342"/>
          </a:solidFill>
          <a:ln w="50799">
            <a:solidFill>
              <a:srgbClr val="F56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552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7054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BEYOND VOLUME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807045"/>
            <a:ext cx="6248244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Sentiment intelligence reveals what volume alone misses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6" y="2735759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Read the signal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4155579"/>
            <a:ext cx="19811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Detect frustration, urgency, recurring themes, and emerging hotspots.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353" y="2735759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131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See the pattern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2743131" y="4155579"/>
            <a:ext cx="19811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Separate isolated incidents from systemic service problems.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899" y="2735759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76678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Act earlier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4876678" y="4155579"/>
            <a:ext cx="1981150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Give leaders an early-warning layer before dissatisfaction compounds.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Leaders get one operating view from intake to resolution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4307772" cy="3367683"/>
          </a:xfrm>
          <a:prstGeom prst="roundRect">
            <a:avLst>
              <a:gd name="adj" fmla="val 5770"/>
            </a:avLst>
          </a:prstGeom>
          <a:solidFill>
            <a:srgbClr val="E3F4F1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045692"/>
            <a:ext cx="400298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LEADERSHIP 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0" y="2344738"/>
            <a:ext cx="3698187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0" dirty="0">
                <a:solidFill>
                  <a:srgbClr val="0F766E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One view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12780" y="3236218"/>
            <a:ext cx="369818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From the first intake signal to the final resolution and follow-up.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452" y="1766292"/>
            <a:ext cx="300218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Monitor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20452" y="2268538"/>
            <a:ext cx="300218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Backlog, ageing, response times, resolution rates, and escalations.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79826" y="1766292"/>
            <a:ext cx="300228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Drill down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579826" y="2268538"/>
            <a:ext cx="30022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Move from district or department trends to the underlying citizen issue.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452" y="3678734"/>
            <a:ext cx="646165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Focus 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20452" y="4180979"/>
            <a:ext cx="646165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Use evidence to target reviews, resources, and corrective action.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987" y="5327650"/>
            <a:ext cx="11074123" cy="1073150"/>
          </a:xfrm>
          <a:prstGeom prst="roundRect">
            <a:avLst>
              <a:gd name="adj" fmla="val 18106"/>
            </a:avLst>
          </a:prstGeom>
          <a:solidFill>
            <a:srgbClr val="C6E93D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80" y="5530850"/>
            <a:ext cx="104645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The dashboard is not the outcome. It is the shared evidence leaders use to decide what happens next.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341707" y="1766292"/>
            <a:ext cx="19050" cy="1683841"/>
          </a:xfrm>
          <a:prstGeom prst="rect">
            <a:avLst/>
          </a:prstGeom>
          <a:solidFill>
            <a:srgbClr val="C6DBD7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452" y="3440609"/>
            <a:ext cx="6461658" cy="19050"/>
          </a:xfrm>
          <a:prstGeom prst="rect">
            <a:avLst/>
          </a:prstGeom>
          <a:solidFill>
            <a:srgbClr val="C6DBD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Accountability becomes visible without becoming punitive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E3F4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227429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137892"/>
            <a:ext cx="2878562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Make ownership explicit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2780" y="3986808"/>
            <a:ext cx="2878562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Set clear service commitments and make responsibility visible to the teams doing the work.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0926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F3FB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13" y="227429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Keep citizens informed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605718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Provide status updates and a credible path to follow-up when work takes time.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3865" y="1766292"/>
            <a:ext cx="3488246" cy="4634508"/>
          </a:xfrm>
          <a:prstGeom prst="roundRect">
            <a:avLst>
              <a:gd name="adj" fmla="val 5570"/>
            </a:avLst>
          </a:prstGeom>
          <a:solidFill>
            <a:srgbClr val="FFE7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852" y="227429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8657" y="3137892"/>
            <a:ext cx="287866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Publish what helps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398657" y="3640137"/>
            <a:ext cx="287866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Share the right measures to build confidence and support continuous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596727"/>
            <a:ext cx="74166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BBF6F2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NEXT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1895773"/>
            <a:ext cx="6908627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CivicPulse closes the loop between citizen voice and better government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737381" y="1859459"/>
            <a:ext cx="29463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0" dirty="0">
                <a:solidFill>
                  <a:srgbClr val="EBF7BA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737381" y="2750939"/>
            <a:ext cx="294632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moves from listening to governed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Focus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7987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Start with a focused service or geography.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1886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Baseline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1886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Establish baseline measures and escalation rules.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35784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Scale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35784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Scale the model as departments demonstrate faster, fairer resolution.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2026-09-30T08:58:23Z</dcterms:created>
  <dcterms:modified xsi:type="dcterms:W3CDTF">2026-09-30T08:58:23Z</dcterms:modified>
</cp:coreProperties>
</file>